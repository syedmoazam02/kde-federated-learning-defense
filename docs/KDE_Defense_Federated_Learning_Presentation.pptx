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1.svg" ContentType="image/svg+xml"/>
  <Override PartName="/ppt/media/image12.svg" ContentType="image/svg+xml"/>
  <Override PartName="/ppt/media/image13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68" r:id="rId3"/>
    <p:sldId id="257" r:id="rId4"/>
    <p:sldId id="258" r:id="rId5"/>
    <p:sldId id="259" r:id="rId6"/>
    <p:sldId id="260" r:id="rId7"/>
    <p:sldId id="269" r:id="rId8"/>
    <p:sldId id="262" r:id="rId9"/>
    <p:sldId id="261" r:id="rId10"/>
    <p:sldId id="270" r:id="rId11"/>
    <p:sldId id="263" r:id="rId12"/>
    <p:sldId id="272" r:id="rId13"/>
    <p:sldId id="271" r:id="rId14"/>
    <p:sldId id="266" r:id="rId15"/>
    <p:sldId id="267" r:id="rId16"/>
    <p:sldId id="264" r:id="rId17"/>
    <p:sldId id="273" r:id="rId18"/>
    <p:sldId id="265" r:id="rId19"/>
  </p:sldIdLst>
  <p:sldSz cx="14630400" cy="8229600"/>
  <p:notesSz cx="8229600" cy="14630400"/>
  <p:embeddedFontLst>
    <p:embeddedFont>
      <p:font typeface="Berlin Sans FB Demi" panose="020E0802020502020306" pitchFamily="34" charset="0"/>
      <p:bold r:id="rId21"/>
    </p:embeddedFont>
    <p:embeddedFont>
      <p:font typeface="Bricolage Grotesque Extra Bold" panose="020B0604020202020204" charset="0"/>
      <p:regular r:id="rId22"/>
    </p:embeddedFont>
    <p:embeddedFont>
      <p:font typeface="Montserrat" panose="00000500000000000000" pitchFamily="2" charset="0"/>
      <p:regular r:id="rId23"/>
      <p:bold r:id="rId24"/>
      <p:italic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AEF6"/>
    <a:srgbClr val="090E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294" autoAdjust="0"/>
    <p:restoredTop sz="94610"/>
  </p:normalViewPr>
  <p:slideViewPr>
    <p:cSldViewPr snapToGrid="0" snapToObjects="1">
      <p:cViewPr>
        <p:scale>
          <a:sx n="66" d="100"/>
          <a:sy n="66" d="100"/>
        </p:scale>
        <p:origin x="715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font" Target="fonts/font1.fntdata"/><Relationship Id="rId22" Type="http://schemas.openxmlformats.org/officeDocument/2006/relationships/font" Target="fonts/font2.fntdata"/><Relationship Id="rId23" Type="http://schemas.openxmlformats.org/officeDocument/2006/relationships/font" Target="fonts/font3.fntdata"/><Relationship Id="rId24" Type="http://schemas.openxmlformats.org/officeDocument/2006/relationships/font" Target="fonts/font4.fntdata"/><Relationship Id="rId25" Type="http://schemas.openxmlformats.org/officeDocument/2006/relationships/font" Target="fonts/font5.fnt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3018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8D7B4-901F-9C80-9AC1-5F77EC57B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FB77DF-2F4B-25A6-68FF-28149E6733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964A2F-D25E-DFB8-158F-6E70620DF7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DA8C89-1790-00CF-D12D-35951F0091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3255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4A205-55F9-AB44-EA54-D06558F1E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F61E47-2B67-E5D2-C039-DA261014E5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AB1A7-8A12-7841-FFAD-210C6D974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4BF5A-0866-B7E7-FE13-2749570D1D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987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FA34B-9C34-764D-7289-4CB78EC4A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D23941-BB45-67A6-B1AA-9AE8081784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90EF64-89CD-7DEC-7CDC-B924F0484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7960E2-2557-F3B3-F171-E38019F103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2923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3C5CF-E61D-A0F0-2DF4-578A4947E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264DC2-20FA-21DA-1F16-B6096FEEEC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DA6E12-96A7-EFD2-383D-45AB2F1541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61838-C8FD-8CA9-9562-704C51B180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8801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AEA36-657C-F019-A99A-EC4BB2DC7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8AE4DC-AE0F-DFE8-191A-3864650F9B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098448-F69B-5BA2-7E4E-946110A4C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245543-0A3C-3EFF-18C4-3363B766D1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6062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Relationship Id="rId6" Type="http://schemas.openxmlformats.org/officeDocument/2006/relationships/image" Target="../media/image13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svg"/><Relationship Id="rId4" Type="http://schemas.openxmlformats.org/officeDocument/2006/relationships/image" Target="../media/image19.svg"/><Relationship Id="rId5" Type="http://schemas.openxmlformats.org/officeDocument/2006/relationships/image" Target="../media/image20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doi.org/10.3390/bdcc8120191" TargetMode="External"/><Relationship Id="rId4" Type="http://schemas.openxmlformats.org/officeDocument/2006/relationships/hyperlink" Target="https://www.google.com/search?q=https://doi.org/10.5220/0013237500003899" TargetMode="External"/><Relationship Id="rId5" Type="http://schemas.openxmlformats.org/officeDocument/2006/relationships/hyperlink" Target="https://www.google.com/search?q=https://doi.org/10.48550/arxiv.2402.10082" TargetMode="External"/><Relationship Id="rId6" Type="http://schemas.openxmlformats.org/officeDocument/2006/relationships/hyperlink" Target="https://www.google.com/search?q=https://doi.org/10.1109/tps-isa56441.2022.00031" TargetMode="External"/><Relationship Id="rId7" Type="http://schemas.openxmlformats.org/officeDocument/2006/relationships/hyperlink" Target="https://www.google.com/search?q=https://doi.org/10.48550/arxiv.2201.02873" TargetMode="External"/><Relationship Id="rId8" Type="http://schemas.openxmlformats.org/officeDocument/2006/relationships/hyperlink" Target="https://www.google.com/search?q=https://doi.org/10.3390/fi16100374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76072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881104" y="2079546"/>
            <a:ext cx="8073736" cy="3292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750"/>
              </a:lnSpc>
              <a:buNone/>
            </a:pPr>
            <a:r>
              <a:rPr b="1">
                <a:solidFill>
                  <a:srgbClr val="EEAEF6"/>
                </a:solidFill>
                <a:latin typeface="Berlin Sans FB Demi"/>
              </a:rPr>
              <a:t>KERNEL DENSITY ESTIMATION (KDE)-BASED DEFENCE AGAINST MODEL POISONING IN FEDERATED LEARNING</a:t>
            </a:r>
            <a:endParaRPr lang="en-US" sz="4400" dirty="0">
              <a:latin typeface="Berlin Sans FB Demi" panose="020E0802020502020306" pitchFamily="3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5659624" y="5820032"/>
            <a:ext cx="779287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                                                            </a:t>
            </a:r>
            <a:r>
              <a:rPr lang="en-US" sz="2000" b="1" u="sng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PRESENTED BY</a:t>
            </a:r>
            <a:r>
              <a:rPr lang="en-US" sz="2000" u="sng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:</a:t>
            </a:r>
            <a:r>
              <a:rPr lang="en-US" sz="200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       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8869682" y="6292929"/>
            <a:ext cx="5228283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  <a:defRPr sz="1400" b="1">
                <a:solidFill>
                  <a:srgbClr val="E5DCE6"/>
                </a:solidFill>
                <a:latin typeface="Montserrat"/>
              </a:defRPr>
            </a:pPr>
            <a:r>
              <a:t>SYED MOAZAM (160923748131)</a:t>
            </a:r>
          </a:p>
          <a:p>
            <a:pPr>
              <a:defRPr sz="1100" b="1">
                <a:solidFill>
                  <a:srgbClr val="F59E0B"/>
                </a:solidFill>
                <a:latin typeface="Montserrat"/>
              </a:defRPr>
            </a:pPr>
            <a:r>
              <a:t>B.E. Computer Science &amp; Engineering (AIML) - 6th Semester Mini Project</a:t>
            </a:r>
          </a:p>
          <a:p>
            <a:pPr>
              <a:defRPr sz="1050">
                <a:solidFill>
                  <a:srgbClr val="CEC4D4"/>
                </a:solidFill>
                <a:latin typeface="Montserrat"/>
              </a:defRPr>
            </a:pPr>
            <a:r>
              <a:t>Under the Guidance of: Ms. Raheela Tabassum (Assistant Professor)</a:t>
            </a:r>
          </a:p>
          <a:p>
            <a:pPr>
              <a:defRPr sz="1050">
                <a:solidFill>
                  <a:srgbClr val="CEC4D4"/>
                </a:solidFill>
                <a:latin typeface="Montserrat"/>
              </a:defRPr>
            </a:pPr>
            <a:r>
              <a:t>Lords Institute of Engineering and Technology (UGC Autonomous), Hyderabad</a:t>
            </a:r>
          </a:p>
        </p:txBody>
      </p:sp>
      <p:sp>
        <p:nvSpPr>
          <p:cNvPr id="8" name="Text 5"/>
          <p:cNvSpPr/>
          <p:nvPr/>
        </p:nvSpPr>
        <p:spPr>
          <a:xfrm>
            <a:off x="6161961" y="6150054"/>
            <a:ext cx="779287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416288" y="6640113"/>
            <a:ext cx="779287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endParaRPr lang="en-US" sz="15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F7B810-A391-9D2A-C91A-2B1F919A2763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DE8740-3F99-1FC9-A341-F8758B25B1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24799" y="80876"/>
            <a:ext cx="1556721" cy="18117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CD17A-6175-77A3-4D7C-9028CA425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3C54321C-6B11-C81F-BC20-DD5189AD4D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760720" cy="8229600"/>
          </a:xfrm>
          <a:prstGeom prst="rect">
            <a:avLst/>
          </a:prstGeom>
        </p:spPr>
      </p:pic>
      <p:sp>
        <p:nvSpPr>
          <p:cNvPr id="8" name="Text 5">
            <a:extLst>
              <a:ext uri="{FF2B5EF4-FFF2-40B4-BE49-F238E27FC236}">
                <a16:creationId xmlns:a16="http://schemas.microsoft.com/office/drawing/2014/main" id="{27CC7B24-16CF-AEDA-FDDE-2815B850F7F7}"/>
              </a:ext>
            </a:extLst>
          </p:cNvPr>
          <p:cNvSpPr/>
          <p:nvPr/>
        </p:nvSpPr>
        <p:spPr>
          <a:xfrm>
            <a:off x="6161961" y="6150054"/>
            <a:ext cx="779287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endParaRPr lang="en-US" sz="15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558C29E0-55B1-7215-1BCC-F69A26B3B338}"/>
              </a:ext>
            </a:extLst>
          </p:cNvPr>
          <p:cNvSpPr/>
          <p:nvPr/>
        </p:nvSpPr>
        <p:spPr>
          <a:xfrm>
            <a:off x="4416288" y="6640113"/>
            <a:ext cx="779287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endParaRPr lang="en-US" sz="15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96576D-2A26-D4C1-9F94-CABB8365FE0E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E42BFE6-1350-7034-21FA-599DF1C310E3}"/>
              </a:ext>
            </a:extLst>
          </p:cNvPr>
          <p:cNvGrpSpPr/>
          <p:nvPr/>
        </p:nvGrpSpPr>
        <p:grpSpPr>
          <a:xfrm>
            <a:off x="6161961" y="394855"/>
            <a:ext cx="3405551" cy="1012804"/>
            <a:chOff x="0" y="0"/>
            <a:chExt cx="21925600" cy="2700805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C02F2DF8-DBA9-57FF-F240-E7A66A92AB96}"/>
                </a:ext>
              </a:extLst>
            </p:cNvPr>
            <p:cNvSpPr/>
            <p:nvPr/>
          </p:nvSpPr>
          <p:spPr>
            <a:xfrm>
              <a:off x="0" y="0"/>
              <a:ext cx="21925600" cy="2700805"/>
            </a:xfrm>
            <a:custGeom>
              <a:avLst/>
              <a:gdLst/>
              <a:ahLst/>
              <a:cxnLst/>
              <a:rect l="l" t="t" r="r" b="b"/>
              <a:pathLst>
                <a:path w="21925600" h="2700805">
                  <a:moveTo>
                    <a:pt x="0" y="0"/>
                  </a:moveTo>
                  <a:lnTo>
                    <a:pt x="21925600" y="0"/>
                  </a:lnTo>
                  <a:lnTo>
                    <a:pt x="21925600" y="2700805"/>
                  </a:lnTo>
                  <a:lnTo>
                    <a:pt x="0" y="27008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08183" b="-10818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72C5122E-6EC7-AEBF-2915-BFE1F31676ED}"/>
                </a:ext>
              </a:extLst>
            </p:cNvPr>
            <p:cNvSpPr txBox="1"/>
            <p:nvPr/>
          </p:nvSpPr>
          <p:spPr>
            <a:xfrm>
              <a:off x="0" y="0"/>
              <a:ext cx="21925598" cy="2700800"/>
            </a:xfrm>
            <a:prstGeom prst="rect">
              <a:avLst/>
            </a:prstGeom>
          </p:spPr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ts val="5999"/>
                </a:lnSpc>
              </a:pPr>
              <a:r>
                <a:rPr lang="en-US" sz="4999" b="1" i="1" u="sng" dirty="0">
                  <a:solidFill>
                    <a:srgbClr val="EEAEF6"/>
                  </a:solidFill>
                  <a:latin typeface="Berlin Sans FB Demi" panose="020E0802020502020306" pitchFamily="34" charset="0"/>
                  <a:ea typeface="Open Sans Bold"/>
                  <a:cs typeface="Open Sans Bold"/>
                  <a:sym typeface="Open Sans Bold"/>
                </a:rPr>
                <a:t>Contents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EF7D217D-AD6A-33F4-BF23-D4707DAE06DD}"/>
              </a:ext>
            </a:extLst>
          </p:cNvPr>
          <p:cNvSpPr txBox="1"/>
          <p:nvPr/>
        </p:nvSpPr>
        <p:spPr>
          <a:xfrm>
            <a:off x="6161961" y="1407657"/>
            <a:ext cx="7315200" cy="6038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1800" dirty="0">
                <a:solidFill>
                  <a:srgbClr val="FFFFFF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1. Abstract</a:t>
            </a:r>
          </a:p>
          <a:p>
            <a:pPr algn="l">
              <a:lnSpc>
                <a:spcPts val="3600"/>
              </a:lnSpc>
            </a:pPr>
            <a:r>
              <a:rPr lang="en-US" sz="1800" dirty="0">
                <a:solidFill>
                  <a:srgbClr val="FFFFFF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 2. Objectives</a:t>
            </a:r>
          </a:p>
          <a:p>
            <a:pPr algn="l">
              <a:lnSpc>
                <a:spcPts val="3600"/>
              </a:lnSpc>
            </a:pPr>
            <a:r>
              <a:rPr lang="en-US" sz="1800" dirty="0">
                <a:solidFill>
                  <a:srgbClr val="FFFFFF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 3. Existing System and Drawbacks</a:t>
            </a:r>
          </a:p>
          <a:p>
            <a:pPr algn="l">
              <a:lnSpc>
                <a:spcPts val="3600"/>
              </a:lnSpc>
            </a:pPr>
            <a:r>
              <a:rPr lang="en-US" sz="1800" dirty="0">
                <a:solidFill>
                  <a:srgbClr val="FFFFFF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 4. Literature Survey</a:t>
            </a:r>
          </a:p>
          <a:p>
            <a:pPr algn="l">
              <a:lnSpc>
                <a:spcPts val="3600"/>
              </a:lnSpc>
            </a:pPr>
            <a:r>
              <a:rPr lang="en-US" sz="1800" dirty="0">
                <a:solidFill>
                  <a:srgbClr val="FFFFFF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 5. Proposed System and advantages(includes s/w &amp; h/w requirements)</a:t>
            </a:r>
          </a:p>
          <a:p>
            <a:pPr algn="l">
              <a:lnSpc>
                <a:spcPts val="3600"/>
              </a:lnSpc>
            </a:pPr>
            <a:r>
              <a:rPr lang="en-US" sz="1800" dirty="0">
                <a:solidFill>
                  <a:srgbClr val="FFFFFF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 7. Modules</a:t>
            </a:r>
          </a:p>
          <a:p>
            <a:pPr algn="l">
              <a:lnSpc>
                <a:spcPts val="3600"/>
              </a:lnSpc>
            </a:pPr>
            <a:r>
              <a:rPr lang="en-US" sz="1800" dirty="0">
                <a:solidFill>
                  <a:srgbClr val="FFFFFF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 8. System Architecture</a:t>
            </a:r>
          </a:p>
          <a:p>
            <a:pPr algn="l">
              <a:lnSpc>
                <a:spcPts val="3600"/>
              </a:lnSpc>
            </a:pPr>
            <a:r>
              <a:rPr lang="en-US" sz="1800" dirty="0">
                <a:solidFill>
                  <a:srgbClr val="FFFFFF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 9. Data flow diagram</a:t>
            </a:r>
          </a:p>
          <a:p>
            <a:pPr algn="l">
              <a:lnSpc>
                <a:spcPts val="3600"/>
              </a:lnSpc>
            </a:pPr>
            <a:r>
              <a:rPr lang="en-US" sz="1800" dirty="0">
                <a:solidFill>
                  <a:srgbClr val="FFFFFF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10. Algorithms Used</a:t>
            </a:r>
          </a:p>
          <a:p>
            <a:pPr algn="l">
              <a:lnSpc>
                <a:spcPts val="3600"/>
              </a:lnSpc>
            </a:pPr>
            <a:r>
              <a:rPr lang="en-US" sz="1800" dirty="0">
                <a:solidFill>
                  <a:srgbClr val="FFFFFF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11. Output Analysis</a:t>
            </a:r>
          </a:p>
          <a:p>
            <a:pPr algn="l">
              <a:lnSpc>
                <a:spcPts val="3600"/>
              </a:lnSpc>
            </a:pPr>
            <a:r>
              <a:rPr lang="en-US" sz="1800" dirty="0">
                <a:solidFill>
                  <a:srgbClr val="FFFFFF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12. Conclusion and Future Work</a:t>
            </a:r>
          </a:p>
          <a:p>
            <a:pPr algn="l">
              <a:lnSpc>
                <a:spcPts val="3600"/>
              </a:lnSpc>
            </a:pPr>
            <a:r>
              <a:rPr lang="en-US" sz="1800" dirty="0">
                <a:solidFill>
                  <a:srgbClr val="FFFFFF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13. References</a:t>
            </a:r>
          </a:p>
        </p:txBody>
      </p:sp>
    </p:spTree>
    <p:extLst>
      <p:ext uri="{BB962C8B-B14F-4D97-AF65-F5344CB8AC3E}">
        <p14:creationId xmlns:p14="http://schemas.microsoft.com/office/powerpoint/2010/main" val="63031599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99656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800" b="1" i="1" u="sng" dirty="0">
                <a:solidFill>
                  <a:srgbClr val="EEAEF6"/>
                </a:solidFill>
                <a:latin typeface="Berlin Sans FB Demi" panose="020E0802020502020306" pitchFamily="34" charset="0"/>
                <a:ea typeface="Bricolage Grotesque Extra Bold" pitchFamily="34" charset="-122"/>
                <a:cs typeface="Bricolage Grotesque Extra Bold" pitchFamily="34" charset="-120"/>
              </a:rPr>
              <a:t>ABSTRACT</a:t>
            </a:r>
            <a:endParaRPr lang="en-US" sz="4800" i="1" dirty="0">
              <a:latin typeface="Berlin Sans FB Demi" panose="020E0802020502020306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93790" y="2772370"/>
            <a:ext cx="4196358" cy="3847267"/>
          </a:xfrm>
          <a:prstGeom prst="roundRect">
            <a:avLst>
              <a:gd name="adj" fmla="val 2476"/>
            </a:avLst>
          </a:prstGeom>
          <a:solidFill>
            <a:srgbClr val="282D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20604" y="299918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Research Context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20604" y="3489603"/>
            <a:ext cx="3742730" cy="290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Federated Learning (FL) enables collaborative model training across decentralised devices whilst preserving data privacy. However, this distributed architecture introduces vulnerabilities to model poisoning attacks.</a:t>
            </a:r>
            <a:endParaRPr lang="en-US" sz="1750" dirty="0"/>
          </a:p>
        </p:txBody>
      </p:sp>
      <p:sp>
        <p:nvSpPr>
          <p:cNvPr id="6" name="Shape 4"/>
          <p:cNvSpPr/>
          <p:nvPr/>
        </p:nvSpPr>
        <p:spPr>
          <a:xfrm>
            <a:off x="5216962" y="2772370"/>
            <a:ext cx="4196358" cy="3847267"/>
          </a:xfrm>
          <a:prstGeom prst="roundRect">
            <a:avLst>
              <a:gd name="adj" fmla="val 2476"/>
            </a:avLst>
          </a:prstGeom>
          <a:solidFill>
            <a:srgbClr val="282D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43776" y="299918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Proposed Solution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43776" y="3489603"/>
            <a:ext cx="3742730" cy="2177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introduce a KDE-based defence mechanism that detects and filters malicious model updates by analysing their density distribution within the parameter space.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9640133" y="2772370"/>
            <a:ext cx="4196358" cy="3847267"/>
          </a:xfrm>
          <a:prstGeom prst="roundRect">
            <a:avLst>
              <a:gd name="adj" fmla="val 2476"/>
            </a:avLst>
          </a:prstGeom>
          <a:solidFill>
            <a:srgbClr val="282D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866948" y="299918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Key Contribution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866948" y="3489603"/>
            <a:ext cx="3742730" cy="2540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KDE approach provides a statistical foundation for identifying anomalous updates without requiring complete knowledge of client data distributions or extensive computational overhead.</a:t>
            </a:r>
            <a:endParaRPr lang="en-US" sz="175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01A930-1173-FA59-3DB8-77CD54E0707B}"/>
              </a:ext>
            </a:extLst>
          </p:cNvPr>
          <p:cNvSpPr/>
          <p:nvPr/>
        </p:nvSpPr>
        <p:spPr>
          <a:xfrm>
            <a:off x="12695278" y="7720445"/>
            <a:ext cx="1828800" cy="426028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323142"/>
            <a:ext cx="649819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800" b="1" i="1" u="sng" dirty="0">
                <a:solidFill>
                  <a:srgbClr val="EEAEF6"/>
                </a:solidFill>
                <a:latin typeface="Berlin Sans FB Demi" panose="020E0802020502020306" pitchFamily="34" charset="0"/>
                <a:ea typeface="Bricolage Grotesque Extra Bold" pitchFamily="34" charset="-122"/>
                <a:cs typeface="Bricolage Grotesque Extra Bold" pitchFamily="34" charset="-120"/>
              </a:rPr>
              <a:t>OBJECTIVES</a:t>
            </a:r>
            <a:endParaRPr lang="en-US" sz="4800" dirty="0">
              <a:latin typeface="Berlin Sans FB Demi" panose="020E0802020502020306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3790" y="2485549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Bricolage Grotesque Light" pitchFamily="34" charset="0"/>
                <a:ea typeface="Bricolage Grotesque Light" pitchFamily="34" charset="-122"/>
                <a:cs typeface="Bricolage Grotesque Light" pitchFamily="34" charset="-120"/>
              </a:rPr>
              <a:t>01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2840593"/>
            <a:ext cx="6407944" cy="30480"/>
          </a:xfrm>
          <a:prstGeom prst="rect">
            <a:avLst/>
          </a:prstGeom>
          <a:solidFill>
            <a:srgbClr val="EEAE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93790" y="3014901"/>
            <a:ext cx="366379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Investigate Vulnerabilities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93790" y="3505319"/>
            <a:ext cx="6407944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Analyse security weaknesses in standard federated averaging algorithms against model poisoning attacks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428548" y="2485549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Bricolage Grotesque Light" pitchFamily="34" charset="0"/>
                <a:ea typeface="Bricolage Grotesque Light" pitchFamily="34" charset="-122"/>
                <a:cs typeface="Bricolage Grotesque Light" pitchFamily="34" charset="-120"/>
              </a:rPr>
              <a:t>02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7428548" y="2840593"/>
            <a:ext cx="6408063" cy="30480"/>
          </a:xfrm>
          <a:prstGeom prst="rect">
            <a:avLst/>
          </a:prstGeom>
          <a:solidFill>
            <a:srgbClr val="EEAE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428548" y="3014901"/>
            <a:ext cx="345031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Develop KDE Framework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428548" y="3505319"/>
            <a:ext cx="640806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Design a kernel density estimation approach for detecting anomalous model parameter updates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93790" y="4627959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Bricolage Grotesque Light" pitchFamily="34" charset="0"/>
                <a:ea typeface="Bricolage Grotesque Light" pitchFamily="34" charset="-122"/>
                <a:cs typeface="Bricolage Grotesque Light" pitchFamily="34" charset="-120"/>
              </a:rPr>
              <a:t>03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793790" y="4983004"/>
            <a:ext cx="6407944" cy="30480"/>
          </a:xfrm>
          <a:prstGeom prst="rect">
            <a:avLst/>
          </a:prstGeom>
          <a:solidFill>
            <a:srgbClr val="EEAE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93790" y="5157311"/>
            <a:ext cx="446936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Implement Filtering Mechanism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93790" y="5647730"/>
            <a:ext cx="6407944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 adaptive threshold strategies for rejecting malicious contributions whilst preserving legitimate updates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7428548" y="4627959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Bricolage Grotesque Light" pitchFamily="34" charset="0"/>
                <a:ea typeface="Bricolage Grotesque Light" pitchFamily="34" charset="-122"/>
                <a:cs typeface="Bricolage Grotesque Light" pitchFamily="34" charset="-120"/>
              </a:rPr>
              <a:t>04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7428548" y="4983004"/>
            <a:ext cx="6408063" cy="30480"/>
          </a:xfrm>
          <a:prstGeom prst="rect">
            <a:avLst/>
          </a:prstGeom>
          <a:solidFill>
            <a:srgbClr val="EEAE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428548" y="5157311"/>
            <a:ext cx="312848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Evaluate Performance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428548" y="5647730"/>
            <a:ext cx="640806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Validate defence effectiveness across multiple datasets and attack scenarios</a:t>
            </a:r>
            <a:endParaRPr lang="en-US" sz="175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B7788F-924B-565C-4AD1-6307DDE9472A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0"/>
            <a:ext cx="576072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8057" y="682108"/>
            <a:ext cx="7847886" cy="1157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550"/>
              </a:lnSpc>
              <a:buNone/>
            </a:pPr>
            <a:r>
              <a:rPr lang="en-US" sz="4400" b="1" i="1" u="sng" dirty="0">
                <a:solidFill>
                  <a:srgbClr val="EEAEF6"/>
                </a:solidFill>
                <a:latin typeface="Berlin Sans FB Demi" panose="020E0802020502020306" pitchFamily="34" charset="0"/>
                <a:ea typeface="Bricolage Grotesque Extra Bold" pitchFamily="34" charset="-122"/>
                <a:cs typeface="Bricolage Grotesque Extra Bold" pitchFamily="34" charset="-120"/>
              </a:rPr>
              <a:t>EXISTING SYSTEM: FEDERATED LEARNING ARCHITECTURE</a:t>
            </a:r>
            <a:endParaRPr lang="en-US" sz="4400" dirty="0">
              <a:latin typeface="Berlin Sans FB Demi" panose="020E0802020502020306" pitchFamily="34" charset="0"/>
            </a:endParaRPr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57" y="2496264"/>
            <a:ext cx="925711" cy="128813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724858" y="2681407"/>
            <a:ext cx="2314456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Central Server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724858" y="3061335"/>
            <a:ext cx="6771084" cy="537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Aggregates model updates using FedAvg algorithm and broadcasts global model</a:t>
            </a:r>
            <a:endParaRPr lang="en-US" sz="14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057" y="3784402"/>
            <a:ext cx="925711" cy="111097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724858" y="3969544"/>
            <a:ext cx="2314456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Client Selection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1724858" y="4349472"/>
            <a:ext cx="6771084" cy="268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Randomly selects subset of clients for each training round</a:t>
            </a:r>
            <a:endParaRPr lang="en-US" sz="14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057" y="4895374"/>
            <a:ext cx="925711" cy="111097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724858" y="5080516"/>
            <a:ext cx="2314456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Local Training</a:t>
            </a:r>
            <a:endParaRPr lang="en-US" sz="1800" dirty="0"/>
          </a:p>
        </p:txBody>
      </p:sp>
      <p:sp>
        <p:nvSpPr>
          <p:cNvPr id="12" name="Text 6"/>
          <p:cNvSpPr/>
          <p:nvPr/>
        </p:nvSpPr>
        <p:spPr>
          <a:xfrm>
            <a:off x="1724858" y="5460444"/>
            <a:ext cx="6771084" cy="268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Clients train on local data and submit model updates</a:t>
            </a:r>
            <a:endParaRPr lang="en-US" sz="14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057" y="6006346"/>
            <a:ext cx="925711" cy="111097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724858" y="6191488"/>
            <a:ext cx="2314456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Model Update</a:t>
            </a:r>
            <a:endParaRPr lang="en-US" sz="1800" dirty="0"/>
          </a:p>
        </p:txBody>
      </p:sp>
      <p:sp>
        <p:nvSpPr>
          <p:cNvPr id="15" name="Text 8"/>
          <p:cNvSpPr/>
          <p:nvPr/>
        </p:nvSpPr>
        <p:spPr>
          <a:xfrm>
            <a:off x="1724858" y="6571417"/>
            <a:ext cx="6771084" cy="268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Global model improves iteratively through aggregation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prestige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145024"/>
            <a:ext cx="1264360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t>CRITICAL DRAWBACKS OF CURRENT SYSTEMS</a:t>
            </a:r>
            <a:endParaRPr lang="en-US" sz="4800" dirty="0">
              <a:latin typeface="Berlin Sans FB Demi" panose="020E0802020502020306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93790" y="2307431"/>
            <a:ext cx="6407944" cy="2093714"/>
          </a:xfrm>
          <a:prstGeom prst="roundRect">
            <a:avLst>
              <a:gd name="adj" fmla="val 6988"/>
            </a:avLst>
          </a:prstGeom>
          <a:solidFill>
            <a:srgbClr val="090E3F"/>
          </a:solidFill>
          <a:ln w="30480">
            <a:solidFill>
              <a:srgbClr val="EEA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3310" y="2307431"/>
            <a:ext cx="121920" cy="2093714"/>
          </a:xfrm>
          <a:prstGeom prst="roundRect">
            <a:avLst>
              <a:gd name="adj" fmla="val 78139"/>
            </a:avLst>
          </a:prstGeom>
          <a:solidFill>
            <a:srgbClr val="EEAE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142524" y="256472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No Built-in Security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42524" y="3055144"/>
            <a:ext cx="5801916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 FedAvg assumes honest participants and lacks mechanisms to verify update authenticity or detect malicious behaviour.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7428548" y="2307431"/>
            <a:ext cx="6408063" cy="2093714"/>
          </a:xfrm>
          <a:prstGeom prst="roundRect">
            <a:avLst>
              <a:gd name="adj" fmla="val 6988"/>
            </a:avLst>
          </a:prstGeom>
          <a:solidFill>
            <a:srgbClr val="090E3F"/>
          </a:solidFill>
          <a:ln w="30480">
            <a:solidFill>
              <a:srgbClr val="2437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98067" y="2307431"/>
            <a:ext cx="121920" cy="2093714"/>
          </a:xfrm>
          <a:prstGeom prst="roundRect">
            <a:avLst>
              <a:gd name="adj" fmla="val 78139"/>
            </a:avLst>
          </a:prstGeom>
          <a:solidFill>
            <a:srgbClr val="2437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7282" y="2564725"/>
            <a:ext cx="304597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Single Point of Failure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7282" y="3055144"/>
            <a:ext cx="580203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compromised server or malicious client can poison the global model, affecting all participants without detection.</a:t>
            </a:r>
            <a:endParaRPr lang="en-US" sz="1750" dirty="0"/>
          </a:p>
        </p:txBody>
      </p:sp>
      <p:sp>
        <p:nvSpPr>
          <p:cNvPr id="11" name="Shape 9"/>
          <p:cNvSpPr/>
          <p:nvPr/>
        </p:nvSpPr>
        <p:spPr>
          <a:xfrm>
            <a:off x="793790" y="4627959"/>
            <a:ext cx="6407944" cy="2456617"/>
          </a:xfrm>
          <a:prstGeom prst="roundRect">
            <a:avLst>
              <a:gd name="adj" fmla="val 5956"/>
            </a:avLst>
          </a:prstGeom>
          <a:solidFill>
            <a:srgbClr val="090E3F"/>
          </a:solidFill>
          <a:ln w="30480">
            <a:solidFill>
              <a:srgbClr val="0911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63310" y="4627959"/>
            <a:ext cx="121920" cy="2456617"/>
          </a:xfrm>
          <a:prstGeom prst="roundRect">
            <a:avLst>
              <a:gd name="adj" fmla="val 78139"/>
            </a:avLst>
          </a:prstGeom>
          <a:solidFill>
            <a:srgbClr val="09115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142524" y="4885253"/>
            <a:ext cx="3513534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Computational Overhead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142524" y="5375672"/>
            <a:ext cx="5801916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Existing defence mechanisms like differential privacy or cryptographic verification add significant computational and communication costs.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7428548" y="4627959"/>
            <a:ext cx="6408063" cy="2456617"/>
          </a:xfrm>
          <a:prstGeom prst="roundRect">
            <a:avLst>
              <a:gd name="adj" fmla="val 5956"/>
            </a:avLst>
          </a:prstGeom>
          <a:solidFill>
            <a:srgbClr val="090E3F"/>
          </a:solidFill>
          <a:ln w="30480">
            <a:solidFill>
              <a:srgbClr val="0000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98067" y="4627959"/>
            <a:ext cx="121920" cy="2456617"/>
          </a:xfrm>
          <a:prstGeom prst="roundRect">
            <a:avLst>
              <a:gd name="adj" fmla="val 78139"/>
            </a:avLst>
          </a:prstGeom>
          <a:solidFill>
            <a:srgbClr val="000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7282" y="488525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False Positives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777282" y="5375672"/>
            <a:ext cx="580203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Statistical methods struggle to distinguish between legitimate model variance and malicious updates, potentially rejecting valid contributions.</a:t>
            </a:r>
            <a:endParaRPr lang="en-US" sz="17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FD3478E-0CE3-3616-A436-588C19865C64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14A8365-220D-E138-1B38-40B6BAB087CB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BC9276D-5BF8-7052-B9A3-59EDC88DDD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8888279"/>
              </p:ext>
            </p:extLst>
          </p:nvPr>
        </p:nvGraphicFramePr>
        <p:xfrm>
          <a:off x="584720" y="1459070"/>
          <a:ext cx="13460960" cy="6400880"/>
        </p:xfrm>
        <a:graphic>
          <a:graphicData uri="http://schemas.openxmlformats.org/drawingml/2006/table">
            <a:tbl>
              <a:tblPr/>
              <a:tblGrid>
                <a:gridCol w="2692192">
                  <a:extLst>
                    <a:ext uri="{9D8B030D-6E8A-4147-A177-3AD203B41FA5}">
                      <a16:colId xmlns:a16="http://schemas.microsoft.com/office/drawing/2014/main" val="326747496"/>
                    </a:ext>
                  </a:extLst>
                </a:gridCol>
                <a:gridCol w="2692192">
                  <a:extLst>
                    <a:ext uri="{9D8B030D-6E8A-4147-A177-3AD203B41FA5}">
                      <a16:colId xmlns:a16="http://schemas.microsoft.com/office/drawing/2014/main" val="3278226101"/>
                    </a:ext>
                  </a:extLst>
                </a:gridCol>
                <a:gridCol w="2692192">
                  <a:extLst>
                    <a:ext uri="{9D8B030D-6E8A-4147-A177-3AD203B41FA5}">
                      <a16:colId xmlns:a16="http://schemas.microsoft.com/office/drawing/2014/main" val="3933554287"/>
                    </a:ext>
                  </a:extLst>
                </a:gridCol>
                <a:gridCol w="2692192">
                  <a:extLst>
                    <a:ext uri="{9D8B030D-6E8A-4147-A177-3AD203B41FA5}">
                      <a16:colId xmlns:a16="http://schemas.microsoft.com/office/drawing/2014/main" val="638069880"/>
                    </a:ext>
                  </a:extLst>
                </a:gridCol>
                <a:gridCol w="2692192">
                  <a:extLst>
                    <a:ext uri="{9D8B030D-6E8A-4147-A177-3AD203B41FA5}">
                      <a16:colId xmlns:a16="http://schemas.microsoft.com/office/drawing/2014/main" val="1026590458"/>
                    </a:ext>
                  </a:extLst>
                </a:gridCol>
              </a:tblGrid>
              <a:tr h="32907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Title</a:t>
                      </a:r>
                      <a:endParaRPr lang="en-US" sz="1100" dirty="0">
                        <a:solidFill>
                          <a:schemeClr val="bg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Author(s)</a:t>
                      </a:r>
                      <a:endParaRPr lang="en-US" sz="1100">
                        <a:solidFill>
                          <a:schemeClr val="bg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Technology / Methodology</a:t>
                      </a:r>
                      <a:endParaRPr lang="en-US" sz="1100">
                        <a:solidFill>
                          <a:schemeClr val="bg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Advantages</a:t>
                      </a:r>
                      <a:endParaRPr lang="en-US" sz="1100">
                        <a:solidFill>
                          <a:schemeClr val="bg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Drawbacks</a:t>
                      </a:r>
                      <a:endParaRPr lang="en-US" sz="1100">
                        <a:solidFill>
                          <a:schemeClr val="bg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5160071"/>
                  </a:ext>
                </a:extLst>
              </a:tr>
              <a:tr h="5983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 dirty="0" err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LoMar</a:t>
                      </a:r>
                      <a:r>
                        <a:rPr lang="en-US" sz="1100" b="1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: A Local Defense Against Poisoning Attack on Federated Learning</a:t>
                      </a: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(2022)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it-IT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X. Li, Z. Qu, et al.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Relative KDE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scoring based on client neighborhoods.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Effective against label-flipping; lightweight; high accuracy retention.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Performance may degrade in extremely high-dimensional weight spaces.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3170786"/>
                  </a:ext>
                </a:extLst>
              </a:tr>
              <a:tr h="73292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Beta Poisoning Attacks: Extensions, Limitations and Defenses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(2022)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a-DK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A. Kara, N. Koprucu, et al.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Gaussian/Epanechnikov KDE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+ GAN Discriminator.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Comprehensive evaluation of KDE kernels; GAN-based detection of noisy samples.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Defense is primarily focused on linear models; less effective against complex CNNs.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0180667"/>
                  </a:ext>
                </a:extLst>
              </a:tr>
              <a:tr h="5983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KAFÈ: Kernel Aggregation for FEderated Learning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(2024)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it-IT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P. Qi, D. Chiaro, et al.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KDE-constructed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global classification layers.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Addresses non-IID data issues; reduces client drift; low computational overhead.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Requires specific layer-wise weight distribution estimation.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77945"/>
                  </a:ext>
                </a:extLst>
              </a:tr>
              <a:tr h="5983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 dirty="0" err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FedRDF</a:t>
                      </a:r>
                      <a:r>
                        <a:rPr lang="en-US" sz="1100" b="1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: A Robust and Dynamic Aggregation Function</a:t>
                      </a: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(2024)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E. M. Campos, et al.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Fourier Transform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+ Frequency-domain Density.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No prior knowledge of attacker count needed; handles sophisticated collusive attacks.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Increased mathematical complexity; relies on frequency domain stability.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2857599"/>
                  </a:ext>
                </a:extLst>
              </a:tr>
              <a:tr h="5983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Adversarial Defense in Cybersecurity: Systematic Review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(2025)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Systematic Survey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Statistical Density Analysis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+ GAN-based filtering.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Provides a unified taxonomy for density-based threat detection.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High-level survey; lacks specific implementation parameters for FL.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9035072"/>
                  </a:ext>
                </a:extLst>
              </a:tr>
              <a:tr h="46368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KeTS: Kernel-based Trust Segmentation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(2025)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it-IT" sz="1100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A. Gangwal, M. Conti, et al.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Historical Update KDE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for trust segmentation.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Outperforms FLTrust by 24% on MNIST; robust against benign outliers.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Higher memory usage due to tracking client update evolution history.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7035142"/>
                  </a:ext>
                </a:extLst>
              </a:tr>
              <a:tr h="5983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FLAMED: Federated Learning via Aggregating Densities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(2025)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W. Briguglio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Multivariate KDE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for global model simulation.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Bypasses non-IID drift; ensures high data privacy by never aggregating raw weights.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Scaling multivariate density estimation to millions of parameters is difficult.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5425140"/>
                  </a:ext>
                </a:extLst>
              </a:tr>
              <a:tr h="5983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 Defense Method Against Multi-Label Poisoning Attacks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(2025)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W. Ma, Q. Zhao, et al.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Gap Statistic</a:t>
                      </a: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+ K-means + Cluster Compactness (Density).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Defends against multi-target attacks; identifies benign clusters with high precision.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Dependent on the quality of output layer gradient features.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9494934"/>
                  </a:ext>
                </a:extLst>
              </a:tr>
              <a:tr h="5983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TDF-PAD: Two-step Defense Framework for Poisoning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(2025)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IEEE Access (PP)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Interquartile Range (IQR)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+ Z-score Density Filtering.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Achieves 0% false positive rate on benchmark datasets; very low false rejection.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Step-wise approach may increase latency in massive-scale FL rounds.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0558068"/>
                  </a:ext>
                </a:extLst>
              </a:tr>
              <a:tr h="5983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Securing FL: A Defense Strategy Against Targeted Attacks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(2025)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Discover IoT (2025)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PCA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+ Anomaly Density Detection.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Effectively isolates malicious updates across vulnerable training rounds.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PCA dimensionality reduction may discard subtle but important model features.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856542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6C94A5B-05B2-264A-7156-9F7C0AA93441}"/>
              </a:ext>
            </a:extLst>
          </p:cNvPr>
          <p:cNvSpPr txBox="1"/>
          <p:nvPr/>
        </p:nvSpPr>
        <p:spPr>
          <a:xfrm>
            <a:off x="584720" y="366626"/>
            <a:ext cx="7315200" cy="754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00" b="1" i="1" u="sng" dirty="0">
                <a:solidFill>
                  <a:srgbClr val="EEAEF6"/>
                </a:solidFill>
                <a:latin typeface="Berlin Sans FB Demi" panose="020E0802020502020306" pitchFamily="34" charset="0"/>
              </a:rPr>
              <a:t>LITERATURE SURVEY</a:t>
            </a:r>
            <a:endParaRPr lang="en-US" sz="4400" dirty="0">
              <a:latin typeface="Berlin Sans FB Demi" panose="020E08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308897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37116"/>
            <a:ext cx="689050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800" i="1" u="sng" dirty="0">
                <a:solidFill>
                  <a:srgbClr val="EEAEF6"/>
                </a:solidFill>
                <a:latin typeface="Berlin Sans FB Demi" panose="020E0802020502020306" pitchFamily="34" charset="0"/>
              </a:rPr>
              <a:t>PROPOSED SYSTEMS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2012871"/>
            <a:ext cx="4034076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u="sng" dirty="0">
                <a:solidFill>
                  <a:schemeClr val="bg2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Software Requirements</a:t>
            </a:r>
            <a:endParaRPr lang="en-US" sz="2650" dirty="0">
              <a:solidFill>
                <a:schemeClr val="bg2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90" y="2664976"/>
            <a:ext cx="6244709" cy="213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Python 3.8+ with NumPy and SciPy libraries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PyTorch or TensorFlow for FL implementation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Scikit-learn for KDE computation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OpenSSL for secure communications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Matplotlib for visualisation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599521" y="2012871"/>
            <a:ext cx="4140518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u="sng" dirty="0">
                <a:solidFill>
                  <a:schemeClr val="bg2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Hardware Requirements</a:t>
            </a:r>
            <a:endParaRPr lang="en-US" sz="2650" dirty="0">
              <a:solidFill>
                <a:schemeClr val="bg2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7599521" y="2664976"/>
            <a:ext cx="6244709" cy="168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Central server: 16+ GB RAM, 4+ cores CPU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Client devices: Minimum 4 GB RAM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Network bandwidth: 10 Mbps upload/download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Storage: 50+ GB for model checkpoints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5244465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200+</a:t>
            </a:r>
            <a:endParaRPr lang="en-US" sz="5850" dirty="0"/>
          </a:p>
        </p:txBody>
      </p:sp>
      <p:sp>
        <p:nvSpPr>
          <p:cNvPr id="8" name="Text 6"/>
          <p:cNvSpPr/>
          <p:nvPr/>
        </p:nvSpPr>
        <p:spPr>
          <a:xfrm>
            <a:off x="1455420" y="627626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Client Devices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93790" y="6766679"/>
            <a:ext cx="415861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Scalable to hundreds of participants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5235893" y="5244465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&lt;5%</a:t>
            </a:r>
            <a:endParaRPr lang="en-US" sz="5850" dirty="0"/>
          </a:p>
        </p:txBody>
      </p:sp>
      <p:sp>
        <p:nvSpPr>
          <p:cNvPr id="11" name="Text 9"/>
          <p:cNvSpPr/>
          <p:nvPr/>
        </p:nvSpPr>
        <p:spPr>
          <a:xfrm>
            <a:off x="5897523" y="627626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False Positive Rate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235893" y="6766679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threshold for legitimate updates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677995" y="5244465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95%+</a:t>
            </a:r>
            <a:endParaRPr lang="en-US" sz="5850" dirty="0"/>
          </a:p>
        </p:txBody>
      </p:sp>
      <p:sp>
        <p:nvSpPr>
          <p:cNvPr id="14" name="Text 12"/>
          <p:cNvSpPr/>
          <p:nvPr/>
        </p:nvSpPr>
        <p:spPr>
          <a:xfrm>
            <a:off x="10339626" y="627626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Detection Accuracy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677995" y="6766679"/>
            <a:ext cx="415861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Expected attack identification rate</a:t>
            </a:r>
            <a:endParaRPr lang="en-US" sz="175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9619FAA-F010-EA4B-F02B-EFA821557D3C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crush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76072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80879" y="670323"/>
            <a:ext cx="7955042" cy="1061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4400" b="1" i="1" u="sng" dirty="0">
                <a:solidFill>
                  <a:srgbClr val="EEAEF6"/>
                </a:solidFill>
                <a:latin typeface="Berlin Sans FB Demi" panose="020E0802020502020306" pitchFamily="34" charset="0"/>
                <a:ea typeface="Bricolage Grotesque Extra Bold" pitchFamily="34" charset="-122"/>
                <a:cs typeface="Bricolage Grotesque Extra Bold" pitchFamily="34" charset="-120"/>
              </a:rPr>
              <a:t>PROPOSED KDE-BASED DEFENCE SYSTEM</a:t>
            </a:r>
            <a:endParaRPr lang="en-US" sz="4400" dirty="0">
              <a:latin typeface="Berlin Sans FB Demi" panose="020E0802020502020306" pitchFamily="3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6080879" y="2060734"/>
            <a:ext cx="2548176" cy="3184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u="sng" dirty="0">
                <a:solidFill>
                  <a:schemeClr val="bg2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Key Advantages</a:t>
            </a:r>
            <a:endParaRPr lang="en-US" sz="2000" dirty="0">
              <a:solidFill>
                <a:schemeClr val="bg2"/>
              </a:solidFill>
            </a:endParaRPr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80879" y="2569964"/>
            <a:ext cx="424696" cy="4246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080879" y="3153608"/>
            <a:ext cx="2365653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Statistical Robustness</a:t>
            </a:r>
            <a:endParaRPr lang="en-US" sz="1650" dirty="0"/>
          </a:p>
        </p:txBody>
      </p:sp>
      <p:sp>
        <p:nvSpPr>
          <p:cNvPr id="7" name="Text 3"/>
          <p:cNvSpPr/>
          <p:nvPr/>
        </p:nvSpPr>
        <p:spPr>
          <a:xfrm>
            <a:off x="6080879" y="3495437"/>
            <a:ext cx="7955042" cy="47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KDE provides non-parametric density estimation that adapts to complex parameter distributions without distributional assumptions.</a:t>
            </a:r>
            <a:endParaRPr lang="en-US" sz="13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80879" y="4225171"/>
            <a:ext cx="424696" cy="42469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080879" y="4808815"/>
            <a:ext cx="2123480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Low Overhead</a:t>
            </a:r>
            <a:endParaRPr lang="en-US" sz="1650" dirty="0"/>
          </a:p>
        </p:txBody>
      </p:sp>
      <p:sp>
        <p:nvSpPr>
          <p:cNvPr id="10" name="Text 5"/>
          <p:cNvSpPr/>
          <p:nvPr/>
        </p:nvSpPr>
        <p:spPr>
          <a:xfrm>
            <a:off x="6080879" y="5150644"/>
            <a:ext cx="7955042" cy="47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Computational cost scales efficiently with model size, adding minimal latency to the aggregation process.</a:t>
            </a:r>
            <a:endParaRPr lang="en-US" sz="13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80879" y="5880378"/>
            <a:ext cx="424696" cy="42469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080879" y="6464022"/>
            <a:ext cx="237791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Adaptive Thresholding</a:t>
            </a:r>
            <a:endParaRPr lang="en-US" sz="1650" dirty="0"/>
          </a:p>
        </p:txBody>
      </p:sp>
      <p:sp>
        <p:nvSpPr>
          <p:cNvPr id="13" name="Text 7"/>
          <p:cNvSpPr/>
          <p:nvPr/>
        </p:nvSpPr>
        <p:spPr>
          <a:xfrm>
            <a:off x="6080879" y="6805851"/>
            <a:ext cx="7955042" cy="47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Dynamic threshold calculation based on density scores reduces false positives whilst maintaining attack detection.</a:t>
            </a:r>
            <a:endParaRPr lang="en-US" sz="13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6A57643-80FB-DC75-6DB5-0A11A9E03A19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9C395-7B4C-B129-C60C-64BA25A1C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7D4246B-0A42-813B-80CB-7B67307093FD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214204B-DE0B-E693-84E4-FD1C8AC06909}"/>
              </a:ext>
            </a:extLst>
          </p:cNvPr>
          <p:cNvSpPr txBox="1"/>
          <p:nvPr/>
        </p:nvSpPr>
        <p:spPr>
          <a:xfrm>
            <a:off x="6266320" y="250020"/>
            <a:ext cx="731520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4400" b="1" i="1" u="sng" dirty="0">
                <a:solidFill>
                  <a:srgbClr val="EEAEF6"/>
                </a:solidFill>
                <a:latin typeface="Berlin Sans FB Demi" panose="020E0802020502020306" pitchFamily="34" charset="0"/>
              </a:rPr>
              <a:t>MODULES</a:t>
            </a:r>
            <a:endParaRPr lang="en-US" sz="4400" dirty="0">
              <a:latin typeface="Berlin Sans FB Demi" panose="020E0802020502020306" pitchFamily="34" charset="0"/>
            </a:endParaRPr>
          </a:p>
        </p:txBody>
      </p:sp>
      <p:pic>
        <p:nvPicPr>
          <p:cNvPr id="17" name="Image 0" descr="preencoded.png">
            <a:extLst>
              <a:ext uri="{FF2B5EF4-FFF2-40B4-BE49-F238E27FC236}">
                <a16:creationId xmlns:a16="http://schemas.microsoft.com/office/drawing/2014/main" id="{9B8E4A7D-E6DD-E900-8550-99A68A887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760720" cy="82296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3A507CB-8BF3-FFB1-A2A1-3B2800070839}"/>
              </a:ext>
            </a:extLst>
          </p:cNvPr>
          <p:cNvSpPr txBox="1"/>
          <p:nvPr/>
        </p:nvSpPr>
        <p:spPr>
          <a:xfrm>
            <a:off x="6266320" y="986954"/>
            <a:ext cx="7611726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solidFill>
                  <a:schemeClr val="bg2"/>
                </a:solidFill>
                <a:latin typeface="Montserrat" panose="00000500000000000000" pitchFamily="2" charset="0"/>
              </a:rPr>
              <a:t>1. Dimensionality Reduction Module</a:t>
            </a: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Transforms high-dimensional model gradients into a lower-dimensional latent space to overcome the "curse of dimensionality" during density estimation.</a:t>
            </a:r>
            <a:b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</a:br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rPr lang="en-US" b="1" dirty="0">
                <a:solidFill>
                  <a:schemeClr val="bg2"/>
                </a:solidFill>
                <a:latin typeface="Montserrat" panose="00000500000000000000" pitchFamily="2" charset="0"/>
              </a:rPr>
              <a:t>2. Kernel Selection &amp; Bandwidth Tuning Module</a:t>
            </a: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Selects the appropriate mathematical function (e.g., Gaussian) and smoothing parameter to accurately model the distribution of benign client updates.</a:t>
            </a:r>
            <a:b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</a:br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rPr lang="en-US" b="1" dirty="0">
                <a:solidFill>
                  <a:schemeClr val="bg2"/>
                </a:solidFill>
                <a:latin typeface="Montserrat" panose="00000500000000000000" pitchFamily="2" charset="0"/>
              </a:rPr>
              <a:t>3. Density Scoring &amp; Probability Mapping Module</a:t>
            </a: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Calculates a numerical likelihood score for each client's update based on its position within the estimated global probability distribution.</a:t>
            </a:r>
            <a:b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</a:br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rPr lang="en-US" b="1" dirty="0">
                <a:solidFill>
                  <a:schemeClr val="bg2"/>
                </a:solidFill>
                <a:latin typeface="Montserrat" panose="00000500000000000000" pitchFamily="2" charset="0"/>
              </a:rPr>
              <a:t>4. Statistical Outlier Detection Module</a:t>
            </a: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Identifies and flags malicious model updates that fall into low-density regions, signaling they are statistical anomalies compared to the honest majority.</a:t>
            </a:r>
            <a:b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</a:br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rPr lang="en-US" b="1" dirty="0">
                <a:solidFill>
                  <a:schemeClr val="bg2"/>
                </a:solidFill>
                <a:latin typeface="Montserrat" panose="00000500000000000000" pitchFamily="2" charset="0"/>
              </a:rPr>
              <a:t>5. Robust Aggregator Module</a:t>
            </a: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Combines the filtered "clean" updates into a new global model, often weighting them by their density scores to prioritize the most representative contributions.</a:t>
            </a:r>
          </a:p>
        </p:txBody>
      </p:sp>
    </p:spTree>
    <p:extLst>
      <p:ext uri="{BB962C8B-B14F-4D97-AF65-F5344CB8AC3E}">
        <p14:creationId xmlns:p14="http://schemas.microsoft.com/office/powerpoint/2010/main" val="78457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28017" y="897672"/>
            <a:ext cx="5434489" cy="5763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4800" b="1" i="1" u="sng" dirty="0">
                <a:solidFill>
                  <a:srgbClr val="EEAEF6"/>
                </a:solidFill>
                <a:latin typeface="Berlin Sans FB Demi" panose="020E0802020502020306" pitchFamily="34" charset="0"/>
                <a:ea typeface="Bricolage Grotesque Extra Bold" pitchFamily="34" charset="-122"/>
                <a:cs typeface="Bricolage Grotesque Extra Bold" pitchFamily="34" charset="-120"/>
              </a:rPr>
              <a:t>SYSTEM ARCHITECTURE</a:t>
            </a:r>
            <a:endParaRPr lang="en-US" sz="4800" dirty="0">
              <a:latin typeface="Berlin Sans FB Demi" panose="020E0802020502020306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EA58E5-0920-AFD4-7D54-3DF3F46D560D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C2E522D2-9E4A-9A47-14BF-C3EAEF5A5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8018" y="2365927"/>
            <a:ext cx="10463645" cy="525385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86707-C41C-BB82-BD67-3C3F6B872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4297FEC-D8EA-CAB0-52B9-F772A38171D7}"/>
              </a:ext>
            </a:extLst>
          </p:cNvPr>
          <p:cNvSpPr/>
          <p:nvPr/>
        </p:nvSpPr>
        <p:spPr>
          <a:xfrm>
            <a:off x="4597954" y="693521"/>
            <a:ext cx="5434489" cy="5763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4800" b="1" i="1" u="sng" dirty="0">
                <a:solidFill>
                  <a:srgbClr val="EEAEF6"/>
                </a:solidFill>
                <a:latin typeface="Berlin Sans FB Demi" panose="020E0802020502020306" pitchFamily="34" charset="0"/>
              </a:rPr>
              <a:t>DATAFLOW DIAGRAM</a:t>
            </a:r>
            <a:endParaRPr lang="en-US" sz="4800" dirty="0">
              <a:latin typeface="Berlin Sans FB Demi" panose="020E0802020502020306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947D30-0BCA-F504-8556-F70686DBED10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1A4412-0A94-C600-8805-77534C5E6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271" y="1678491"/>
            <a:ext cx="11123271" cy="5950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19752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EC045-8B20-6D71-5FD7-3C2D279A7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8875D775-B616-5F0F-FC79-F99E8A80EB97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DE689F-E6CB-B999-8F69-E55CCEFE3E35}"/>
              </a:ext>
            </a:extLst>
          </p:cNvPr>
          <p:cNvSpPr txBox="1"/>
          <p:nvPr/>
        </p:nvSpPr>
        <p:spPr>
          <a:xfrm>
            <a:off x="769716" y="1408417"/>
            <a:ext cx="13090967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t>1. Bandwidth Selection Algorithms</a:t>
            </a:r>
            <a:br/>
            <a:endParaRPr lang="en-US" b="1" u="sng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t>Silverman's Rule of Thumb: Computes a smoothing parameter based on the data's standard deviation to provide a quick, Gaussian-based density baseline.</a:t>
            </a:r>
          </a:p>
          <a:p>
            <a:pPr>
              <a:buFont typeface="Arial" panose="020B0604020202020204" pitchFamily="34" charset="0"/>
              <a:buChar char="•"/>
            </a:pPr>
            <a:r>
              <a:t>Sheather-Jones (SJ) Algorithm: Solves a fixed-point equation to find the mathematically optimal bandwidth that minimizes error for non-normal, multi-modal distributions.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t>Cross-Validation (CV): Uses an iterative "leave-one-out" approach to select the bandwidth that best fits the actual observed client update patterns.</a:t>
            </a:r>
            <a:br/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t>2. Fast Computation &amp; Approximation Algorithms</a:t>
            </a:r>
            <a:br/>
            <a:endParaRPr lang="en-US" b="1" u="sng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t>Fast Multipole Method (FMM): Accelerates density estimation by grouping distant client updates into spatial clusters and approximating their collective influence using Taylor series.</a:t>
            </a:r>
          </a:p>
          <a:p>
            <a:pPr>
              <a:buFont typeface="Arial" panose="020B0604020202020204" pitchFamily="34" charset="0"/>
              <a:buChar char="•"/>
            </a:pPr>
            <a:r>
              <a:t>Dual-Tree Recursion: Uses hierarchical data structures like KD-Trees to prune entire groups of distant updates, focusing only on immediate statistical neighbors.</a:t>
            </a:r>
          </a:p>
          <a:p>
            <a:pPr>
              <a:buFont typeface="Arial" panose="020B0604020202020204" pitchFamily="34" charset="0"/>
              <a:buChar char="•"/>
            </a:pPr>
            <a:r>
              <a:t>Linear Binning &amp; FFT: Maps updates onto a discrete grid and uses Fast Fourier Transforms to compute density convolutions in near-constant time.</a:t>
            </a:r>
            <a:br/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t>3. Outlier Scoring &amp; Detection Algorithms</a:t>
            </a:r>
            <a:br/>
            <a:endParaRPr lang="en-US" b="1" u="sng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t>Relative Density (LoMar): Compares a client's density score to its local neighborhood average to prevent unique but honest (non-IID) updates from being flagged.</a:t>
            </a:r>
          </a:p>
          <a:p>
            <a:pPr>
              <a:buFont typeface="Arial" panose="020B0604020202020204" pitchFamily="34" charset="0"/>
              <a:buChar char="•"/>
            </a:pPr>
            <a:r>
              <a:t>Kernel Density Ratio (KDR): Measures the statistical divergence between the current round's updates and a pre-verified "golden" dataset to identify malicious shifts.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03DFF4-89CF-6EC8-45A8-75331321000A}"/>
              </a:ext>
            </a:extLst>
          </p:cNvPr>
          <p:cNvSpPr txBox="1"/>
          <p:nvPr/>
        </p:nvSpPr>
        <p:spPr>
          <a:xfrm>
            <a:off x="769716" y="354560"/>
            <a:ext cx="7315200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4500"/>
              </a:lnSpc>
              <a:buNone/>
            </a:pPr>
            <a:r>
              <a:t>ALGORITHM USED</a:t>
            </a:r>
          </a:p>
        </p:txBody>
      </p:sp>
    </p:spTree>
    <p:extLst>
      <p:ext uri="{BB962C8B-B14F-4D97-AF65-F5344CB8AC3E}">
        <p14:creationId xmlns:p14="http://schemas.microsoft.com/office/powerpoint/2010/main" val="3733229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F32C24E-4ABB-0BEC-22D9-D79FAE551B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5150" y="1587726"/>
            <a:ext cx="10858106" cy="61051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441C32E-0F8C-73D2-5959-C0F91FC88F2B}"/>
              </a:ext>
            </a:extLst>
          </p:cNvPr>
          <p:cNvSpPr txBox="1"/>
          <p:nvPr/>
        </p:nvSpPr>
        <p:spPr>
          <a:xfrm>
            <a:off x="567160" y="756266"/>
            <a:ext cx="7315200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4000" i="1" u="sng" dirty="0">
                <a:solidFill>
                  <a:srgbClr val="EEAEF6"/>
                </a:solidFill>
                <a:latin typeface="Berlin Sans FB Demi" panose="020E0802020502020306" pitchFamily="34" charset="0"/>
              </a:rPr>
              <a:t>USER VIEW CODE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A38835-7E2A-BCFE-E4AC-553D447364B8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9284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94F4488-3620-5C5F-D93B-4D7399D664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0212" y="1667837"/>
            <a:ext cx="10509975" cy="590938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9C7344A-E4E6-DE8E-DEF3-A1BA66A9214F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210A0D-EB10-C4C5-5571-F53D4180614E}"/>
              </a:ext>
            </a:extLst>
          </p:cNvPr>
          <p:cNvSpPr txBox="1"/>
          <p:nvPr/>
        </p:nvSpPr>
        <p:spPr>
          <a:xfrm>
            <a:off x="694481" y="652376"/>
            <a:ext cx="7315200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4000" i="1" u="sng" dirty="0">
                <a:solidFill>
                  <a:srgbClr val="EEAEF6"/>
                </a:solidFill>
                <a:latin typeface="Berlin Sans FB Demi" panose="020E0802020502020306" pitchFamily="34" charset="0"/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33082096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01544"/>
            <a:ext cx="5670590" cy="708779"/>
          </a:xfrm>
          <a:prstGeom prst="rect">
            <a:avLst/>
          </a:prstGeom>
          <a:solidFill>
            <a:srgbClr val="090E3F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800" b="1" i="1" u="sng" dirty="0">
                <a:solidFill>
                  <a:srgbClr val="EEAEF6"/>
                </a:solidFill>
                <a:latin typeface="Berlin Sans FB Demi" panose="020E0802020502020306" pitchFamily="34" charset="0"/>
                <a:ea typeface="Bricolage Grotesque Extra Bold" pitchFamily="34" charset="-122"/>
                <a:cs typeface="Bricolage Grotesque Extra Bold" pitchFamily="34" charset="-120"/>
              </a:rPr>
              <a:t>CONCLUSION</a:t>
            </a:r>
            <a:endParaRPr lang="en-US" sz="4800" dirty="0">
              <a:latin typeface="Berlin Sans FB Demi" panose="020E0802020502020306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93790" y="2863096"/>
            <a:ext cx="4196358" cy="3665815"/>
          </a:xfrm>
          <a:prstGeom prst="roundRect">
            <a:avLst>
              <a:gd name="adj" fmla="val 2599"/>
            </a:avLst>
          </a:prstGeom>
          <a:solidFill>
            <a:srgbClr val="282D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20604" y="3089910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EEAE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07770" y="3276957"/>
            <a:ext cx="306110" cy="3061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0604" y="399716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Effective Defence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020604" y="4487585"/>
            <a:ext cx="3742730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KDE-based filtering significantly reduces model poisoning success rates whilst maintaining model accuracy on legitimate data.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5216962" y="2863096"/>
            <a:ext cx="4196358" cy="3665815"/>
          </a:xfrm>
          <a:prstGeom prst="roundRect">
            <a:avLst>
              <a:gd name="adj" fmla="val 2599"/>
            </a:avLst>
          </a:prstGeom>
          <a:solidFill>
            <a:srgbClr val="282D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5443776" y="3089910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24379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30942" y="3276957"/>
            <a:ext cx="306110" cy="30611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43776" y="3997166"/>
            <a:ext cx="355377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Practical Implementation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5443776" y="4487585"/>
            <a:ext cx="37427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Minimal computational overhead makes the approach deployable in real-world federated learning systems.</a:t>
            </a:r>
            <a:endParaRPr lang="en-US" sz="1750" dirty="0"/>
          </a:p>
        </p:txBody>
      </p:sp>
      <p:sp>
        <p:nvSpPr>
          <p:cNvPr id="13" name="Shape 9"/>
          <p:cNvSpPr/>
          <p:nvPr/>
        </p:nvSpPr>
        <p:spPr>
          <a:xfrm>
            <a:off x="9640133" y="2863096"/>
            <a:ext cx="4196358" cy="3665815"/>
          </a:xfrm>
          <a:prstGeom prst="roundRect">
            <a:avLst>
              <a:gd name="adj" fmla="val 2599"/>
            </a:avLst>
          </a:prstGeom>
          <a:solidFill>
            <a:srgbClr val="282D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9866948" y="3089910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09115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54114" y="3276957"/>
            <a:ext cx="306110" cy="30611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866948" y="399716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Future Directions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9866948" y="4487585"/>
            <a:ext cx="37427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Integration with differential privacy and adaptive threshold optimisation for enhanced security guarantees.</a:t>
            </a:r>
            <a:endParaRPr lang="en-US" sz="175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C4BE44-4CE6-0525-1304-B758386DD9FD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7859F-575F-39A0-7F9B-C8733A71D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EEEEA41-73E7-C30F-C03F-7CCC7F6D3648}"/>
              </a:ext>
            </a:extLst>
          </p:cNvPr>
          <p:cNvSpPr/>
          <p:nvPr/>
        </p:nvSpPr>
        <p:spPr>
          <a:xfrm>
            <a:off x="793790" y="465025"/>
            <a:ext cx="5670590" cy="708779"/>
          </a:xfrm>
          <a:prstGeom prst="rect">
            <a:avLst/>
          </a:prstGeom>
          <a:solidFill>
            <a:srgbClr val="090E3F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t>REFERENCES</a:t>
            </a:r>
            <a:endParaRPr lang="en-US" sz="4800" dirty="0">
              <a:latin typeface="Berlin Sans FB Demi" panose="020E0802020502020306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4ECCBD-0A21-587D-CA1C-CB7A6803EC14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FC445EB-3D89-6EC7-E8E2-DFCE73F7178A}"/>
              </a:ext>
            </a:extLst>
          </p:cNvPr>
          <p:cNvSpPr txBox="1"/>
          <p:nvPr/>
        </p:nvSpPr>
        <p:spPr>
          <a:xfrm>
            <a:off x="793790" y="1390915"/>
            <a:ext cx="12956934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Ahmed, M., </a:t>
            </a:r>
            <a:r>
              <a:rPr lang="en-US" dirty="0" err="1">
                <a:solidFill>
                  <a:schemeClr val="bg2"/>
                </a:solidFill>
                <a:latin typeface="Montserrat" panose="00000500000000000000" pitchFamily="2" charset="0"/>
              </a:rPr>
              <a:t>Alasad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, Q., Yuan, J. S., &amp; </a:t>
            </a:r>
            <a:r>
              <a:rPr lang="en-US" dirty="0" err="1">
                <a:solidFill>
                  <a:schemeClr val="bg2"/>
                </a:solidFill>
                <a:latin typeface="Montserrat" panose="00000500000000000000" pitchFamily="2" charset="0"/>
              </a:rPr>
              <a:t>Alawad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, M. (2024). Re-Evaluating Deep Learning Attacks and Defenses in Cybersecurity Systems. </a:t>
            </a:r>
            <a:r>
              <a:rPr lang="en-US" i="1" dirty="0">
                <a:solidFill>
                  <a:schemeClr val="bg2"/>
                </a:solidFill>
                <a:latin typeface="Montserrat" panose="00000500000000000000" pitchFamily="2" charset="0"/>
              </a:rPr>
              <a:t>Big Data and Cognitive Computing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, </a:t>
            </a:r>
            <a:r>
              <a:rPr lang="en-US" i="1" dirty="0">
                <a:solidFill>
                  <a:schemeClr val="bg2"/>
                </a:solidFill>
                <a:latin typeface="Montserrat" panose="00000500000000000000" pitchFamily="2" charset="0"/>
              </a:rPr>
              <a:t>8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(12), 191. 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https://doi.org/10.3390/bdcc8120191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 Cited by: 10</a:t>
            </a:r>
            <a:b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</a:br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Briguglio, W. (2025). An Alternative Approach to Federated Learning for Model Security and Data Privacy. </a:t>
            </a:r>
            <a:r>
              <a:rPr lang="en-US" i="1" dirty="0">
                <a:solidFill>
                  <a:schemeClr val="bg2"/>
                </a:solidFill>
                <a:latin typeface="Montserrat" panose="00000500000000000000" pitchFamily="2" charset="0"/>
              </a:rPr>
              <a:t>Proceedings of the 11th International Conference on Information Systems Security and Privacy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, 291-301. 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https://doi.org/10.5220/0013237500003899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 Cited by: 1</a:t>
            </a:r>
            <a:b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</a:br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Campos, E. M., Vidal, A. G., Ramos, J. L. H., &amp; </a:t>
            </a:r>
            <a:r>
              <a:rPr lang="en-US" dirty="0" err="1">
                <a:solidFill>
                  <a:schemeClr val="bg2"/>
                </a:solidFill>
                <a:latin typeface="Montserrat" panose="00000500000000000000" pitchFamily="2" charset="0"/>
              </a:rPr>
              <a:t>Skarmeta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, A. (2024). </a:t>
            </a:r>
            <a:r>
              <a:rPr lang="en-US" dirty="0" err="1">
                <a:solidFill>
                  <a:schemeClr val="bg2"/>
                </a:solidFill>
                <a:latin typeface="Montserrat" panose="00000500000000000000" pitchFamily="2" charset="0"/>
              </a:rPr>
              <a:t>FedRDF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: A Robust and Dynamic Aggregation Function against Poisoning Attacks in Federated Learning. </a:t>
            </a:r>
            <a:r>
              <a:rPr lang="en-US" i="1" dirty="0" err="1">
                <a:solidFill>
                  <a:schemeClr val="bg2"/>
                </a:solidFill>
                <a:latin typeface="Montserrat" panose="00000500000000000000" pitchFamily="2" charset="0"/>
              </a:rPr>
              <a:t>arXiv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. 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https://doi.org/10.48550/arxiv.2402.10082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 Cited by: 21</a:t>
            </a:r>
            <a:b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</a:br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Kara, A., </a:t>
            </a:r>
            <a:r>
              <a:rPr lang="en-US" dirty="0" err="1">
                <a:solidFill>
                  <a:schemeClr val="bg2"/>
                </a:solidFill>
                <a:latin typeface="Montserrat" panose="00000500000000000000" pitchFamily="2" charset="0"/>
              </a:rPr>
              <a:t>Koprucu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, N., &amp; Gursoy, M. E. (2022). Beta Poisoning Attacks Against Machine Learning Models: Extensions, Limitations and Defenses. </a:t>
            </a:r>
            <a:r>
              <a:rPr lang="en-US" i="1" dirty="0">
                <a:solidFill>
                  <a:schemeClr val="bg2"/>
                </a:solidFill>
                <a:latin typeface="Montserrat" panose="00000500000000000000" pitchFamily="2" charset="0"/>
              </a:rPr>
              <a:t>2022 IEEE 4th International Conference on Trust, Privacy and Security in Intelligent Systems, and Applications (TPS-ISA)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, 178-187. 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https://doi.org/10.1109/tps-isa56441.2022.00031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 Cited by: 1</a:t>
            </a: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Li, X., Qu, Z., Zhao, S., Tang, B., Lu, Z., &amp; Liu, Y. (2022). </a:t>
            </a:r>
            <a:r>
              <a:rPr lang="en-US" dirty="0" err="1">
                <a:solidFill>
                  <a:schemeClr val="bg2"/>
                </a:solidFill>
                <a:latin typeface="Montserrat" panose="00000500000000000000" pitchFamily="2" charset="0"/>
              </a:rPr>
              <a:t>LoMar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: A Local Defense Against Poisoning Attack on Federated Learning. </a:t>
            </a:r>
            <a:r>
              <a:rPr lang="en-US" i="1" dirty="0" err="1">
                <a:solidFill>
                  <a:schemeClr val="bg2"/>
                </a:solidFill>
                <a:latin typeface="Montserrat" panose="00000500000000000000" pitchFamily="2" charset="0"/>
              </a:rPr>
              <a:t>arXiv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. 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https://doi.org/10.48550/arxiv.2201.02873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 Cited by: 175</a:t>
            </a:r>
            <a:b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</a:br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Manzoor, H. U., Shabbir, A., Chen, A., Flynn, D., &amp; Zoha, A. (2024). A Survey of Security Strategies in Federated Learning: Defending Models, Data, and Privacy. </a:t>
            </a:r>
            <a:r>
              <a:rPr lang="en-US" i="1" dirty="0">
                <a:solidFill>
                  <a:schemeClr val="bg2"/>
                </a:solidFill>
                <a:latin typeface="Montserrat" panose="00000500000000000000" pitchFamily="2" charset="0"/>
              </a:rPr>
              <a:t>Future Internet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, </a:t>
            </a:r>
            <a:r>
              <a:rPr lang="en-US" i="1" dirty="0">
                <a:solidFill>
                  <a:schemeClr val="bg2"/>
                </a:solidFill>
                <a:latin typeface="Montserrat" panose="00000500000000000000" pitchFamily="2" charset="0"/>
              </a:rPr>
              <a:t>16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(10), 374. 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https://doi.org/10.3390/fi16100374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 Cited by: 50</a:t>
            </a:r>
          </a:p>
        </p:txBody>
      </p:sp>
    </p:spTree>
    <p:extLst>
      <p:ext uri="{BB962C8B-B14F-4D97-AF65-F5344CB8AC3E}">
        <p14:creationId xmlns:p14="http://schemas.microsoft.com/office/powerpoint/2010/main" val="148020965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0"/>
            <a:ext cx="5760720" cy="8229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74208" y="2958400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4800" b="1" dirty="0">
                <a:solidFill>
                  <a:srgbClr val="EEAEF6"/>
                </a:solidFill>
                <a:latin typeface="Berlin Sans FB Demi" panose="020E0802020502020306" pitchFamily="34" charset="0"/>
                <a:ea typeface="Montserrat" pitchFamily="34" charset="-122"/>
                <a:cs typeface="Montserrat" pitchFamily="34" charset="-120"/>
              </a:rPr>
              <a:t>Questions &amp; Discussion</a:t>
            </a:r>
            <a:endParaRPr lang="en-US" sz="4800" b="1" dirty="0">
              <a:solidFill>
                <a:srgbClr val="EEAEF6"/>
              </a:solidFill>
              <a:latin typeface="Berlin Sans FB Demi" panose="020E0802020502020306" pitchFamily="34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1445608" y="4637939"/>
            <a:ext cx="721625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i="1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"Security in federated learning requires continuous innovation to stay ahead of evolving attack vectors."</a:t>
            </a:r>
            <a:endParaRPr lang="en-US" sz="2000" i="1" dirty="0"/>
          </a:p>
        </p:txBody>
      </p:sp>
      <p:sp>
        <p:nvSpPr>
          <p:cNvPr id="6" name="Shape 3"/>
          <p:cNvSpPr/>
          <p:nvPr/>
        </p:nvSpPr>
        <p:spPr>
          <a:xfrm>
            <a:off x="1100667" y="4382787"/>
            <a:ext cx="30480" cy="1236107"/>
          </a:xfrm>
          <a:prstGeom prst="rect">
            <a:avLst/>
          </a:prstGeom>
          <a:solidFill>
            <a:srgbClr val="EEAEF6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shred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1854</Words>
  <Application>Microsoft Office PowerPoint</Application>
  <PresentationFormat>Custom</PresentationFormat>
  <Paragraphs>200</Paragraphs>
  <Slides>18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Berlin Sans FB Demi</vt:lpstr>
      <vt:lpstr>Bricolage Grotesque Extra Bold</vt:lpstr>
      <vt:lpstr>Arial</vt:lpstr>
      <vt:lpstr>Bricolage Grotesque Light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ZAYN FAROOQUI</dc:creator>
  <cp:lastModifiedBy>Syed Moazam</cp:lastModifiedBy>
  <cp:revision>10</cp:revision>
  <dcterms:created xsi:type="dcterms:W3CDTF">2026-03-06T13:32:29Z</dcterms:created>
  <dcterms:modified xsi:type="dcterms:W3CDTF">2026-05-05T04:41:40Z</dcterms:modified>
</cp:coreProperties>
</file>